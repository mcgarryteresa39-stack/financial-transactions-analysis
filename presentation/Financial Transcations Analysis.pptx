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4" r:id="rId3"/>
    <p:sldId id="257" r:id="rId4"/>
    <p:sldId id="290" r:id="rId5"/>
    <p:sldId id="259" r:id="rId6"/>
    <p:sldId id="260" r:id="rId7"/>
    <p:sldId id="275" r:id="rId8"/>
  </p:sldIdLst>
  <p:sldSz cx="12192000" cy="6858000"/>
  <p:notesSz cx="6858000" cy="9144000"/>
  <p:embeddedFontLst>
    <p:embeddedFont>
      <p:font typeface="Play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IdXPcRoQ8UDX9xl6PICD9Bv/O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6D7F6E-5185-47C6-B820-0288A80E2E35}">
  <a:tblStyle styleId="{8A6D7F6E-5185-47C6-B820-0288A80E2E3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39C3D3E-881A-42AF-8B0A-486E6975536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customschemas.google.com/relationships/presentationmetadata" Target="metadata"/><Relationship Id="rId7" Type="http://schemas.openxmlformats.org/officeDocument/2006/relationships/slide" Target="slides/slide6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915868" y="1325121"/>
            <a:ext cx="10745190" cy="1555731"/>
          </a:xfrm>
          <a:prstGeom prst="rect">
            <a:avLst/>
          </a:prstGeom>
          <a:solidFill>
            <a:srgbClr val="A3C5E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050"/>
            </a:pPr>
            <a:r>
              <a:rPr lang="en-GB" sz="2800" b="1" dirty="0">
                <a:latin typeface="+mn-lt"/>
              </a:rPr>
              <a:t>Core Question:</a:t>
            </a:r>
            <a:br>
              <a:rPr lang="en-GB" sz="2800" dirty="0">
                <a:latin typeface="+mn-lt"/>
              </a:rPr>
            </a:br>
            <a:r>
              <a:rPr lang="en-GB" sz="2400" dirty="0">
                <a:latin typeface="+mn-lt"/>
              </a:rPr>
              <a:t>What user characteristics and card attributes predict whether a customer holds high-value card portfolios (high credit limits, multiple card types, and premium brands)?”</a:t>
            </a:r>
            <a:endParaRPr sz="2400" i="1" dirty="0">
              <a:latin typeface="+mn-lt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40336" y="425262"/>
            <a:ext cx="1051132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2800" b="1" dirty="0"/>
              <a:t>Team D</a:t>
            </a:r>
            <a:r>
              <a:rPr lang="en-GB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Financial Transactions Analysis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91401" y="5993368"/>
            <a:ext cx="60960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By: </a:t>
            </a:r>
            <a:r>
              <a:rPr lang="en-GB" sz="1400" b="0" i="1" u="none" strike="noStrike" cap="none" dirty="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Group D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2800" dirty="0">
                <a:latin typeface="Arial"/>
                <a:ea typeface="Arial"/>
                <a:cs typeface="Arial"/>
                <a:sym typeface="Arial"/>
              </a:rPr>
              <a:t>Data Analysis Summary</a:t>
            </a:r>
            <a:endParaRPr dirty="0"/>
          </a:p>
        </p:txBody>
      </p:sp>
      <p:graphicFrame>
        <p:nvGraphicFramePr>
          <p:cNvPr id="267" name="Google Shape;267;p35"/>
          <p:cNvGraphicFramePr/>
          <p:nvPr>
            <p:extLst>
              <p:ext uri="{D42A27DB-BD31-4B8C-83A1-F6EECF244321}">
                <p14:modId xmlns:p14="http://schemas.microsoft.com/office/powerpoint/2010/main" val="202016598"/>
              </p:ext>
            </p:extLst>
          </p:nvPr>
        </p:nvGraphicFramePr>
        <p:xfrm>
          <a:off x="966875" y="1835033"/>
          <a:ext cx="9754725" cy="1854250"/>
        </p:xfrm>
        <a:graphic>
          <a:graphicData uri="http://schemas.openxmlformats.org/drawingml/2006/table">
            <a:tbl>
              <a:tblPr firstRow="1" bandRow="1">
                <a:noFill/>
                <a:tableStyleId>{8A6D7F6E-5185-47C6-B820-0288A80E2E35}</a:tableStyleId>
              </a:tblPr>
              <a:tblGrid>
                <a:gridCol w="348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u="none" strike="noStrike" cap="none"/>
                        <a:t>Analysis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u="none" strike="noStrike" cap="none"/>
                        <a:t>Conclusion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/>
                        <a:t>Statistical testing (t‑tests, ANOVA)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/>
                        <a:t>Correlation analysis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/>
                        <a:t>Dimensionality reduction (PCA)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cap="none"/>
                        <a:t>Predictive modelling/Predictive modelling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838200" y="1600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Contents: 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838200" y="1336023"/>
            <a:ext cx="10515600" cy="4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1818"/>
              <a:buNone/>
            </a:pPr>
            <a:endParaRPr sz="4900" dirty="0"/>
          </a:p>
          <a:p>
            <a:pPr marL="7273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en-GB" sz="4900" dirty="0"/>
              <a:t>Executive Summary</a:t>
            </a:r>
            <a:endParaRPr sz="4900" dirty="0"/>
          </a:p>
          <a:p>
            <a:pPr marL="228600" lvl="0" indent="-64135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ct val="116883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80B2-D892-1C50-F5B0-0FFC55CC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+mj-lt"/>
              </a:rPr>
              <a:t>Team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F10210-2325-18DD-6708-24EA99FDE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05616"/>
              </p:ext>
            </p:extLst>
          </p:nvPr>
        </p:nvGraphicFramePr>
        <p:xfrm>
          <a:off x="1068439" y="1690687"/>
          <a:ext cx="9098117" cy="3693546"/>
        </p:xfrm>
        <a:graphic>
          <a:graphicData uri="http://schemas.openxmlformats.org/drawingml/2006/table">
            <a:tbl>
              <a:tblPr firstRow="1" bandRow="1">
                <a:tableStyleId>{8A6D7F6E-5185-47C6-B820-0288A80E2E35}</a:tableStyleId>
              </a:tblPr>
              <a:tblGrid>
                <a:gridCol w="1299731">
                  <a:extLst>
                    <a:ext uri="{9D8B030D-6E8A-4147-A177-3AD203B41FA5}">
                      <a16:colId xmlns:a16="http://schemas.microsoft.com/office/drawing/2014/main" val="1101579468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2697815639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1526531572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2507742724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4251314793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163734701"/>
                    </a:ext>
                  </a:extLst>
                </a:gridCol>
                <a:gridCol w="1299731">
                  <a:extLst>
                    <a:ext uri="{9D8B030D-6E8A-4147-A177-3AD203B41FA5}">
                      <a16:colId xmlns:a16="http://schemas.microsoft.com/office/drawing/2014/main" val="3011490758"/>
                    </a:ext>
                  </a:extLst>
                </a:gridCol>
              </a:tblGrid>
              <a:tr h="615591"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Trello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774038"/>
                  </a:ext>
                </a:extLst>
              </a:tr>
              <a:tr h="61559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Teresa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841421"/>
                  </a:ext>
                </a:extLst>
              </a:tr>
              <a:tr h="61559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Igor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316247"/>
                  </a:ext>
                </a:extLst>
              </a:tr>
              <a:tr h="61559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Alona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680156"/>
                  </a:ext>
                </a:extLst>
              </a:tr>
              <a:tr h="615591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+mn-lt"/>
                        </a:rPr>
                        <a:t>Mitesh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557431"/>
                  </a:ext>
                </a:extLst>
              </a:tr>
              <a:tr h="615591"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534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62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800" b="1" dirty="0">
                <a:latin typeface="Arial"/>
                <a:ea typeface="Arial"/>
                <a:cs typeface="Arial"/>
                <a:sym typeface="Arial"/>
              </a:rPr>
              <a:t>Main motivation for selecting this dataset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627625" y="21038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800" b="1" dirty="0">
                <a:latin typeface="Arial"/>
                <a:ea typeface="Arial"/>
                <a:cs typeface="Arial"/>
                <a:sym typeface="Arial"/>
              </a:rPr>
              <a:t>Exploration of the dataset features: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>
            <a:spLocks noGrp="1"/>
          </p:cNvSpPr>
          <p:nvPr>
            <p:ph type="title"/>
          </p:nvPr>
        </p:nvSpPr>
        <p:spPr>
          <a:xfrm>
            <a:off x="5051283" y="2766218"/>
            <a:ext cx="208943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800" b="1">
                <a:latin typeface="Arial"/>
                <a:ea typeface="Arial"/>
                <a:cs typeface="Arial"/>
                <a:sym typeface="Arial"/>
              </a:rPr>
              <a:t>Appendix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</Words>
  <Application>Microsoft Office PowerPoint</Application>
  <PresentationFormat>Widescreen</PresentationFormat>
  <Paragraphs>23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Play</vt:lpstr>
      <vt:lpstr>Arial</vt:lpstr>
      <vt:lpstr>Office Theme</vt:lpstr>
      <vt:lpstr>Core Question: What user characteristics and card attributes predict whether a customer holds high-value card portfolios (high credit limits, multiple card types, and premium brands)?”</vt:lpstr>
      <vt:lpstr>Data Analysis Summary</vt:lpstr>
      <vt:lpstr>Contents: </vt:lpstr>
      <vt:lpstr>Team</vt:lpstr>
      <vt:lpstr>Main motivation for selecting this dataset</vt:lpstr>
      <vt:lpstr>Exploration of the dataset features: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Teresa McGarry</dc:creator>
  <cp:lastModifiedBy>Teresa McGarry</cp:lastModifiedBy>
  <cp:revision>5</cp:revision>
  <dcterms:created xsi:type="dcterms:W3CDTF">2025-11-21T13:21:10Z</dcterms:created>
  <dcterms:modified xsi:type="dcterms:W3CDTF">2025-12-05T17:58:35Z</dcterms:modified>
</cp:coreProperties>
</file>